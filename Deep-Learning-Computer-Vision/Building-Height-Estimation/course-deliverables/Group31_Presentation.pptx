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ormorant Garamond Bold Italics" charset="1" panose="00000800000000000000"/>
      <p:regular r:id="rId13"/>
    </p:embeddedFont>
    <p:embeddedFont>
      <p:font typeface="Quicksand" charset="1" panose="00000000000000000000"/>
      <p:regular r:id="rId14"/>
    </p:embeddedFont>
    <p:embeddedFont>
      <p:font typeface="Quicksand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649792"/>
            <a:ext cx="16229942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Building Height Estimation From Satellite Images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22179" y="1967581"/>
            <a:ext cx="11643643" cy="52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Prepared by group 31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70833" y="7423076"/>
            <a:ext cx="4775716" cy="914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</a:pPr>
            <a:r>
              <a:rPr lang="en-US" sz="2638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Azaan Imran              26100281</a:t>
            </a:r>
          </a:p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Muhammad Ibrahim 26100151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3779" y="15849"/>
            <a:ext cx="3214221" cy="10271151"/>
            <a:chOff x="0" y="0"/>
            <a:chExt cx="846544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6544" cy="2705159"/>
            </a:xfrm>
            <a:custGeom>
              <a:avLst/>
              <a:gdLst/>
              <a:ahLst/>
              <a:cxnLst/>
              <a:rect r="r" b="b" t="t" l="l"/>
              <a:pathLst>
                <a:path h="2705159" w="846544">
                  <a:moveTo>
                    <a:pt x="0" y="0"/>
                  </a:moveTo>
                  <a:lnTo>
                    <a:pt x="846544" y="0"/>
                  </a:lnTo>
                  <a:lnTo>
                    <a:pt x="846544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46544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9512912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929" y="319209"/>
            <a:ext cx="13195858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Paper 1: Stereollax Net: Stereo Parallax-Based Deep Learning for Building Height Estimation</a:t>
            </a:r>
          </a:p>
          <a:p>
            <a:pPr algn="l">
              <a:lnSpc>
                <a:spcPts val="3779"/>
              </a:lnSpc>
            </a:pPr>
            <a:r>
              <a:rPr lang="en-US" sz="26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Authors: Sana Jabbar and Murtaza Taj (Member, IEEE)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0929" y="923925"/>
            <a:ext cx="14333895" cy="940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</a:p>
          <a:p>
            <a:pPr algn="l" marL="431802" indent="-215901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Introduces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Stereollax Net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a novel hybrid deep learning architecture that combines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analytical stereo parallax formulation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with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end-to-end learning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algn="l" marL="431802" indent="-215901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Architecture: </a:t>
            </a:r>
          </a:p>
          <a:p>
            <a:pPr algn="l" marL="863604" indent="-287868" lvl="2">
              <a:lnSpc>
                <a:spcPts val="3400"/>
              </a:lnSpc>
              <a:buFont typeface="Arial"/>
              <a:buChar char="⚬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two encoders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</a:p>
          <a:p>
            <a:pPr algn="l" marL="863604" indent="-287868" lvl="2">
              <a:lnSpc>
                <a:spcPts val="3400"/>
              </a:lnSpc>
              <a:buFont typeface="Arial"/>
              <a:buChar char="⚬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decoder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</a:p>
          <a:p>
            <a:pPr algn="l" marL="863604" indent="-287868" lvl="2">
              <a:lnSpc>
                <a:spcPts val="3400"/>
              </a:lnSpc>
              <a:buFont typeface="Arial"/>
              <a:buChar char="⚬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Fully Connected Network</a:t>
            </a:r>
          </a:p>
          <a:p>
            <a:pPr algn="l" marL="863604" indent="-287868" lvl="2">
              <a:lnSpc>
                <a:spcPts val="3400"/>
              </a:lnSpc>
              <a:buFont typeface="Arial"/>
              <a:buChar char="⚬"/>
            </a:pP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Multiscale Differential Shortcut Connection module</a:t>
            </a:r>
          </a:p>
          <a:p>
            <a:pPr algn="l">
              <a:lnSpc>
                <a:spcPts val="3400"/>
              </a:lnSpc>
            </a:pPr>
          </a:p>
          <a:p>
            <a:pPr algn="l" marL="431802" indent="-215901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Methodology: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Computes a differential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parallax image (1P)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uses it, along with the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average photo-base (b)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satellite height (hs)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in a closed-form equation to estimate building heights.</a:t>
            </a:r>
          </a:p>
          <a:p>
            <a:pPr algn="l" marL="431802" indent="-215901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Dataset Used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: 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Evaluated on the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42-Cities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DFC2018 datasets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achieving state-of-the-art performance using only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RGB imagery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fewer parameters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compared to existing methods.</a:t>
            </a:r>
          </a:p>
          <a:p>
            <a:pPr algn="l">
              <a:lnSpc>
                <a:spcPts val="3400"/>
              </a:lnSpc>
            </a:pPr>
          </a:p>
          <a:p>
            <a:pPr algn="l">
              <a:lnSpc>
                <a:spcPts val="3400"/>
              </a:lnSpc>
            </a:pPr>
            <a:r>
              <a:rPr lang="en-US" sz="20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Relevance to Our Project:</a:t>
            </a:r>
          </a:p>
          <a:p>
            <a:pPr algn="l" marL="431802" indent="-215901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Provides a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cutting-edge 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methodology for estimating building heights from satellite imagery.</a:t>
            </a:r>
          </a:p>
          <a:p>
            <a:pPr algn="l" marL="431802" indent="-215901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Demonstrates a successful integration of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stereo vision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concepts with deep learning, which can inspire improvements in our approach.</a:t>
            </a:r>
          </a:p>
          <a:p>
            <a:pPr algn="l" marL="431802" indent="-215901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Offers insights into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multi-scale feature refinement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parameter regression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that are applicable to our building height estimation project.</a:t>
            </a:r>
          </a:p>
          <a:p>
            <a:pPr algn="l" marL="0" indent="0" lvl="0">
              <a:lnSpc>
                <a:spcPts val="3400"/>
              </a:lnSpc>
            </a:pPr>
            <a:r>
              <a:rPr lang="en-US" sz="20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​</a:t>
            </a:r>
          </a:p>
          <a:p>
            <a:pPr algn="l" marL="0" indent="0" lvl="0">
              <a:lnSpc>
                <a:spcPts val="34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999749" y="2206820"/>
            <a:ext cx="7765029" cy="2232214"/>
          </a:xfrm>
          <a:custGeom>
            <a:avLst/>
            <a:gdLst/>
            <a:ahLst/>
            <a:cxnLst/>
            <a:rect r="r" b="b" t="t" l="l"/>
            <a:pathLst>
              <a:path h="2232214" w="7765029">
                <a:moveTo>
                  <a:pt x="0" y="0"/>
                </a:moveTo>
                <a:lnTo>
                  <a:pt x="7765029" y="0"/>
                </a:lnTo>
                <a:lnTo>
                  <a:pt x="7765029" y="2232214"/>
                </a:lnTo>
                <a:lnTo>
                  <a:pt x="0" y="2232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77" t="-4637" r="-1333" b="-386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46977" y="7663570"/>
            <a:ext cx="3541023" cy="2274586"/>
          </a:xfrm>
          <a:custGeom>
            <a:avLst/>
            <a:gdLst/>
            <a:ahLst/>
            <a:cxnLst/>
            <a:rect r="r" b="b" t="t" l="l"/>
            <a:pathLst>
              <a:path h="2274586" w="3541023">
                <a:moveTo>
                  <a:pt x="0" y="0"/>
                </a:moveTo>
                <a:lnTo>
                  <a:pt x="3541023" y="0"/>
                </a:lnTo>
                <a:lnTo>
                  <a:pt x="3541023" y="2274586"/>
                </a:lnTo>
                <a:lnTo>
                  <a:pt x="0" y="2274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3779" y="15849"/>
            <a:ext cx="3214221" cy="10271151"/>
            <a:chOff x="0" y="0"/>
            <a:chExt cx="846544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6544" cy="2705159"/>
            </a:xfrm>
            <a:custGeom>
              <a:avLst/>
              <a:gdLst/>
              <a:ahLst/>
              <a:cxnLst/>
              <a:rect r="r" b="b" t="t" l="l"/>
              <a:pathLst>
                <a:path h="2705159" w="846544">
                  <a:moveTo>
                    <a:pt x="0" y="0"/>
                  </a:moveTo>
                  <a:lnTo>
                    <a:pt x="846544" y="0"/>
                  </a:lnTo>
                  <a:lnTo>
                    <a:pt x="846544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46544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9570457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929" y="319209"/>
            <a:ext cx="13195858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Paper 2: MF-BHNet: A Hybrid Multimodal Fusion Network for Building Height Estimation Using Sentinel-1 and Sentinel-2 Imagery</a:t>
            </a:r>
          </a:p>
          <a:p>
            <a:pPr algn="l">
              <a:lnSpc>
                <a:spcPts val="3779"/>
              </a:lnSpc>
            </a:pPr>
            <a:r>
              <a:rPr lang="en-US" sz="26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Authors: Siyuan Wang, Bowen Cai, Dongyang Hou, Qing Ding, Jiaming Wang, and Zhenfeng Shao (IEEE TGRS, 2024)</a:t>
            </a:r>
          </a:p>
          <a:p>
            <a:pPr algn="l">
              <a:lnSpc>
                <a:spcPts val="3779"/>
              </a:lnSpc>
            </a:pP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0929" y="1799433"/>
            <a:ext cx="14471536" cy="756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0"/>
              </a:lnSpc>
            </a:pPr>
          </a:p>
          <a:p>
            <a:pPr algn="l" marL="367031" indent="-183515" lvl="1">
              <a:lnSpc>
                <a:spcPts val="2890"/>
              </a:lnSpc>
              <a:buFont typeface="Arial"/>
              <a:buChar char="•"/>
            </a:pP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Introduces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MF-BHNet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a hybrid network that integrates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Sentinel-1 (SAR)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Sentinel-2 (optical)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data for accurate building height estimation.</a:t>
            </a:r>
          </a:p>
          <a:p>
            <a:pPr algn="l" marL="367031" indent="-183515" lvl="1">
              <a:lnSpc>
                <a:spcPts val="2890"/>
              </a:lnSpc>
              <a:buFont typeface="Arial"/>
              <a:buChar char="•"/>
            </a:pP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Architecture: </a:t>
            </a:r>
          </a:p>
          <a:p>
            <a:pPr algn="l" marL="734061" indent="-244687" lvl="2">
              <a:lnSpc>
                <a:spcPts val="2890"/>
              </a:lnSpc>
              <a:buFont typeface="Arial"/>
              <a:buChar char="⚬"/>
            </a:pP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Hybrid Multimodal Encoder (IME)</a:t>
            </a:r>
          </a:p>
          <a:p>
            <a:pPr algn="l" marL="734061" indent="-244687" lvl="2">
              <a:lnSpc>
                <a:spcPts val="2890"/>
              </a:lnSpc>
              <a:buFont typeface="Arial"/>
              <a:buChar char="⚬"/>
            </a:pP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Cross-Modal Encoder (CME)</a:t>
            </a:r>
          </a:p>
          <a:p>
            <a:pPr algn="l" marL="734061" indent="-244687" lvl="2">
              <a:lnSpc>
                <a:spcPts val="2890"/>
              </a:lnSpc>
              <a:buFont typeface="Arial"/>
              <a:buChar char="⚬"/>
            </a:pP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Multiscale Feature Fusion (MFF)</a:t>
            </a:r>
          </a:p>
          <a:p>
            <a:pPr algn="l" marL="734061" indent="-244687" lvl="2">
              <a:lnSpc>
                <a:spcPts val="2890"/>
              </a:lnSpc>
              <a:buFont typeface="Arial"/>
              <a:buChar char="⚬"/>
            </a:pP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Multimodal Semantic Fusion (MSF)</a:t>
            </a:r>
          </a:p>
          <a:p>
            <a:pPr algn="l" marL="734061" indent="-244687" lvl="2">
              <a:lnSpc>
                <a:spcPts val="2890"/>
              </a:lnSpc>
              <a:buFont typeface="Arial"/>
              <a:buChar char="⚬"/>
            </a:pP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Dual Decoders</a:t>
            </a:r>
          </a:p>
          <a:p>
            <a:pPr algn="l" marL="367031" indent="-183515" lvl="1">
              <a:lnSpc>
                <a:spcPts val="2890"/>
              </a:lnSpc>
              <a:buFont typeface="Arial"/>
              <a:buChar char="•"/>
            </a:pP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Methodology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 Fuses complementary information from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Sentinel-1 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and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Sentinel-2 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imagery through a progressive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coarse-to-fine multimodal fusion strategy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combining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CNN-based feature extraction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with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transformer-based context modeling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 accurately predict building height maps.</a:t>
            </a:r>
          </a:p>
          <a:p>
            <a:pPr algn="l" marL="367031" indent="-183515" lvl="1">
              <a:lnSpc>
                <a:spcPts val="2890"/>
              </a:lnSpc>
              <a:buFont typeface="Arial"/>
              <a:buChar char="•"/>
            </a:pP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Dataset Used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 Evaluated on a dataset constructed from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Sentinel-1/2 data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covering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62 major Chinese cities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with ground truth building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heights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footprints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demonstrating state-of-the-art performance (RMSE of 3.64 m) and high generalizability across 55 cities.</a:t>
            </a:r>
          </a:p>
          <a:p>
            <a:pPr algn="l">
              <a:lnSpc>
                <a:spcPts val="2890"/>
              </a:lnSpc>
            </a:pPr>
          </a:p>
          <a:p>
            <a:pPr algn="l">
              <a:lnSpc>
                <a:spcPts val="2890"/>
              </a:lnSpc>
            </a:pPr>
            <a:r>
              <a:rPr lang="en-US" sz="17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Relevance to Our Project:</a:t>
            </a:r>
          </a:p>
          <a:p>
            <a:pPr algn="l" marL="367031" indent="-183515" lvl="1">
              <a:lnSpc>
                <a:spcPts val="2890"/>
              </a:lnSpc>
              <a:buFont typeface="Arial"/>
              <a:buChar char="•"/>
            </a:pP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Presents an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nn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ovativ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 fu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sion strategy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for integrating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heterogeneous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data in building height estimation.</a:t>
            </a:r>
          </a:p>
          <a:p>
            <a:pPr algn="l" marL="367031" indent="-183515" lvl="1">
              <a:lnSpc>
                <a:spcPts val="2890"/>
              </a:lnSpc>
              <a:buFont typeface="Arial"/>
              <a:buChar char="•"/>
            </a:pP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Demonstrates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dvanced featur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 extraction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by combining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intramodal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cross-modal encoders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with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multiscale fusion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which can inspire enhancements in our model design.</a:t>
            </a:r>
          </a:p>
          <a:p>
            <a:pPr algn="l" marL="367031" indent="-183515" lvl="1">
              <a:lnSpc>
                <a:spcPts val="2890"/>
              </a:lnSpc>
              <a:buFont typeface="Arial"/>
              <a:buChar char="•"/>
            </a:pP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Presents a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calable, cost-effective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solution using freely available Sentinel data, supporting our </a:t>
            </a:r>
            <a:r>
              <a:rPr lang="en-US" b="true" sz="1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urban 3D mapping goal</a:t>
            </a:r>
            <a:r>
              <a:rPr lang="en-US" sz="1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algn="l" marL="0" indent="0" lvl="0">
              <a:lnSpc>
                <a:spcPts val="289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758412" y="2617112"/>
            <a:ext cx="4630735" cy="2526388"/>
          </a:xfrm>
          <a:custGeom>
            <a:avLst/>
            <a:gdLst/>
            <a:ahLst/>
            <a:cxnLst/>
            <a:rect r="r" b="b" t="t" l="l"/>
            <a:pathLst>
              <a:path h="2526388" w="4630735">
                <a:moveTo>
                  <a:pt x="0" y="0"/>
                </a:moveTo>
                <a:lnTo>
                  <a:pt x="4630735" y="0"/>
                </a:lnTo>
                <a:lnTo>
                  <a:pt x="4630735" y="2526388"/>
                </a:lnTo>
                <a:lnTo>
                  <a:pt x="0" y="2526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89955" y="8329487"/>
            <a:ext cx="3967648" cy="1857627"/>
          </a:xfrm>
          <a:custGeom>
            <a:avLst/>
            <a:gdLst/>
            <a:ahLst/>
            <a:cxnLst/>
            <a:rect r="r" b="b" t="t" l="l"/>
            <a:pathLst>
              <a:path h="1857627" w="3967648">
                <a:moveTo>
                  <a:pt x="0" y="0"/>
                </a:moveTo>
                <a:lnTo>
                  <a:pt x="3967648" y="0"/>
                </a:lnTo>
                <a:lnTo>
                  <a:pt x="3967648" y="1857626"/>
                </a:lnTo>
                <a:lnTo>
                  <a:pt x="0" y="1857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3779" y="15849"/>
            <a:ext cx="3214221" cy="10271151"/>
            <a:chOff x="0" y="0"/>
            <a:chExt cx="846544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6544" cy="2705159"/>
            </a:xfrm>
            <a:custGeom>
              <a:avLst/>
              <a:gdLst/>
              <a:ahLst/>
              <a:cxnLst/>
              <a:rect r="r" b="b" t="t" l="l"/>
              <a:pathLst>
                <a:path h="2705159" w="846544">
                  <a:moveTo>
                    <a:pt x="0" y="0"/>
                  </a:moveTo>
                  <a:lnTo>
                    <a:pt x="846544" y="0"/>
                  </a:lnTo>
                  <a:lnTo>
                    <a:pt x="846544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46544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9570457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929" y="319209"/>
            <a:ext cx="13195858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Paper 3: A Deep Learning Method for Building Height Estimation Using High-Resolution Multi-View Imagery Over Urban Areas: A Case Study of 42 Chinese Cities</a:t>
            </a:r>
          </a:p>
          <a:p>
            <a:pPr algn="l">
              <a:lnSpc>
                <a:spcPts val="3779"/>
              </a:lnSpc>
            </a:pPr>
            <a:r>
              <a:rPr lang="en-US" sz="26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Authors: Yinxia Cao and Xin Huang</a:t>
            </a:r>
          </a:p>
          <a:p>
            <a:pPr algn="l">
              <a:lnSpc>
                <a:spcPts val="3779"/>
              </a:lnSpc>
            </a:pP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0929" y="1780383"/>
            <a:ext cx="14471536" cy="725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3399"/>
              </a:lnSpc>
              <a:buFont typeface="Arial"/>
              <a:buChar char="•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Introduces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M3Net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a deep network that leverages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high-resolution multi-view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multi-spectral imagery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for accurate building height estimation over urban areas.</a:t>
            </a:r>
          </a:p>
          <a:p>
            <a:pPr algn="l" marL="431799" indent="-215899" lvl="1">
              <a:lnSpc>
                <a:spcPts val="3399"/>
              </a:lnSpc>
              <a:buFont typeface="Arial"/>
              <a:buChar char="•"/>
            </a:pP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Architecture:</a:t>
            </a:r>
          </a:p>
          <a:p>
            <a:pPr algn="l" marL="863598" indent="-287866" lvl="2">
              <a:lnSpc>
                <a:spcPts val="3399"/>
              </a:lnSpc>
              <a:buFont typeface="Arial"/>
              <a:buChar char="⚬"/>
            </a:pP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Dual-branch encoder–decoder structure</a:t>
            </a:r>
          </a:p>
          <a:p>
            <a:pPr algn="l" marL="863598" indent="-287866" lvl="2">
              <a:lnSpc>
                <a:spcPts val="3399"/>
              </a:lnSpc>
              <a:buFont typeface="Arial"/>
              <a:buChar char="⚬"/>
            </a:pP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Dual decoders</a:t>
            </a:r>
          </a:p>
          <a:p>
            <a:pPr algn="l" marL="863598" indent="-287866" lvl="2">
              <a:lnSpc>
                <a:spcPts val="3399"/>
              </a:lnSpc>
              <a:buFont typeface="Arial"/>
              <a:buChar char="⚬"/>
            </a:pP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U-N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et based with skip connections </a:t>
            </a:r>
          </a:p>
          <a:p>
            <a:pPr algn="l" marL="431799" indent="-215899" lvl="1">
              <a:lnSpc>
                <a:spcPts val="3399"/>
              </a:lnSpc>
              <a:buFont typeface="Arial"/>
              <a:buChar char="•"/>
            </a:pP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Methodology: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Fuses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high-resolution ZY-3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multi-spectral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multi-view images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within a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multi-task learning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framework using a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weighted loss function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based on task uncertainty, employing a "predict-then-aggregate" strategy to achieve fine-scale height estimates.</a:t>
            </a:r>
          </a:p>
          <a:p>
            <a:pPr algn="l" marL="431799" indent="-215899" lvl="1">
              <a:lnSpc>
                <a:spcPts val="3399"/>
              </a:lnSpc>
              <a:buFont typeface="Arial"/>
              <a:buChar char="•"/>
            </a:pP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Dataset Used: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Evaluated on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ZY-3 satellite images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corresponding ground truth building height data from 42 Chinese cities, covering diverse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urban settings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algn="l">
              <a:lnSpc>
                <a:spcPts val="3399"/>
              </a:lnSpc>
            </a:pPr>
          </a:p>
          <a:p>
            <a:pPr algn="l">
              <a:lnSpc>
                <a:spcPts val="3399"/>
              </a:lnSpc>
            </a:pPr>
            <a:r>
              <a:rPr lang="en-US" sz="19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Relevance to Our Project:</a:t>
            </a:r>
          </a:p>
          <a:p>
            <a:pPr algn="l" marL="431799" indent="-215899" lvl="1">
              <a:lnSpc>
                <a:spcPts val="3399"/>
              </a:lnSpc>
              <a:buFont typeface="Arial"/>
              <a:buChar char="•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Provides a robust fusion strategy for integrating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multi-view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multi-spectral data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in building height estimation.</a:t>
            </a:r>
          </a:p>
          <a:p>
            <a:pPr algn="l" marL="431799" indent="-215899" lvl="1">
              <a:lnSpc>
                <a:spcPts val="3399"/>
              </a:lnSpc>
              <a:buFont typeface="Arial"/>
              <a:buChar char="•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Demonstrates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advanced multi-task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lear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ning and fusion techniques that can inspire improvements in our model design.</a:t>
            </a:r>
          </a:p>
          <a:p>
            <a:pPr algn="l" marL="431799" indent="-215899" lvl="1">
              <a:lnSpc>
                <a:spcPts val="3399"/>
              </a:lnSpc>
              <a:buFont typeface="Arial"/>
              <a:buChar char="•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Offers a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scalable, cost-effective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solution using freely available satellite imagery, aligning with our </a:t>
            </a: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urban 3D mapping goals.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892465" y="15849"/>
            <a:ext cx="3395535" cy="2368386"/>
          </a:xfrm>
          <a:custGeom>
            <a:avLst/>
            <a:gdLst/>
            <a:ahLst/>
            <a:cxnLst/>
            <a:rect r="r" b="b" t="t" l="l"/>
            <a:pathLst>
              <a:path h="2368386" w="3395535">
                <a:moveTo>
                  <a:pt x="0" y="0"/>
                </a:moveTo>
                <a:lnTo>
                  <a:pt x="3395535" y="0"/>
                </a:lnTo>
                <a:lnTo>
                  <a:pt x="3395535" y="2368385"/>
                </a:lnTo>
                <a:lnTo>
                  <a:pt x="0" y="2368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26173" y="2384234"/>
            <a:ext cx="5179194" cy="1870634"/>
          </a:xfrm>
          <a:custGeom>
            <a:avLst/>
            <a:gdLst/>
            <a:ahLst/>
            <a:cxnLst/>
            <a:rect r="r" b="b" t="t" l="l"/>
            <a:pathLst>
              <a:path h="1870634" w="5179194">
                <a:moveTo>
                  <a:pt x="0" y="0"/>
                </a:moveTo>
                <a:lnTo>
                  <a:pt x="5179194" y="0"/>
                </a:lnTo>
                <a:lnTo>
                  <a:pt x="5179194" y="1870635"/>
                </a:lnTo>
                <a:lnTo>
                  <a:pt x="0" y="1870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21523" y="8770059"/>
            <a:ext cx="5178523" cy="1516941"/>
          </a:xfrm>
          <a:custGeom>
            <a:avLst/>
            <a:gdLst/>
            <a:ahLst/>
            <a:cxnLst/>
            <a:rect r="r" b="b" t="t" l="l"/>
            <a:pathLst>
              <a:path h="1516941" w="5178523">
                <a:moveTo>
                  <a:pt x="0" y="0"/>
                </a:moveTo>
                <a:lnTo>
                  <a:pt x="5178523" y="0"/>
                </a:lnTo>
                <a:lnTo>
                  <a:pt x="5178523" y="1516941"/>
                </a:lnTo>
                <a:lnTo>
                  <a:pt x="0" y="15169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73779" y="15849"/>
            <a:ext cx="3214221" cy="10271151"/>
            <a:chOff x="0" y="0"/>
            <a:chExt cx="846544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6544" cy="2705159"/>
            </a:xfrm>
            <a:custGeom>
              <a:avLst/>
              <a:gdLst/>
              <a:ahLst/>
              <a:cxnLst/>
              <a:rect r="r" b="b" t="t" l="l"/>
              <a:pathLst>
                <a:path h="2705159" w="846544">
                  <a:moveTo>
                    <a:pt x="0" y="0"/>
                  </a:moveTo>
                  <a:lnTo>
                    <a:pt x="846544" y="0"/>
                  </a:lnTo>
                  <a:lnTo>
                    <a:pt x="846544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46544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9570457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929" y="319209"/>
            <a:ext cx="13195858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 Outline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0929" y="1780383"/>
            <a:ext cx="14471536" cy="425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3399"/>
              </a:lnSpc>
              <a:buFont typeface="Arial"/>
              <a:buChar char="•"/>
            </a:pP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Scope</a:t>
            </a:r>
          </a:p>
          <a:p>
            <a:pPr algn="l" marL="863598" indent="-287866" lvl="2">
              <a:lnSpc>
                <a:spcPts val="3399"/>
              </a:lnSpc>
              <a:buFont typeface="Arial"/>
              <a:buChar char="⚬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Preprocess satellite data </a:t>
            </a:r>
          </a:p>
          <a:p>
            <a:pPr algn="l" marL="863598" indent="-287866" lvl="2">
              <a:lnSpc>
                <a:spcPts val="3399"/>
              </a:lnSpc>
              <a:buFont typeface="Arial"/>
              <a:buChar char="⚬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Train bas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line and advanced multimodal fusion models (i.e. vision transformers)</a:t>
            </a:r>
          </a:p>
          <a:p>
            <a:pPr algn="l" marL="863598" indent="-287866" lvl="2">
              <a:lnSpc>
                <a:spcPts val="3399"/>
              </a:lnSpc>
              <a:buFont typeface="Arial"/>
              <a:buChar char="⚬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Incorporate hybrid approaches (transformers + CNN) to improve existing benchmarks</a:t>
            </a:r>
          </a:p>
          <a:p>
            <a:pPr algn="l">
              <a:lnSpc>
                <a:spcPts val="3399"/>
              </a:lnSpc>
            </a:pPr>
          </a:p>
          <a:p>
            <a:pPr algn="l" marL="431799" indent="-215899" lvl="1">
              <a:lnSpc>
                <a:spcPts val="3399"/>
              </a:lnSpc>
              <a:buFont typeface="Arial"/>
              <a:buChar char="•"/>
            </a:pPr>
            <a:r>
              <a:rPr lang="en-US" b="true" sz="19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Workflow</a:t>
            </a:r>
          </a:p>
          <a:p>
            <a:pPr algn="l" marL="863598" indent="-287866" lvl="2">
              <a:lnSpc>
                <a:spcPts val="3399"/>
              </a:lnSpc>
              <a:buFont typeface="Arial"/>
              <a:buChar char="⚬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Data Splitting: Train/validate/test sets</a:t>
            </a:r>
          </a:p>
          <a:p>
            <a:pPr algn="l" marL="863598" indent="-287866" lvl="2">
              <a:lnSpc>
                <a:spcPts val="3399"/>
              </a:lnSpc>
              <a:buFont typeface="Arial"/>
              <a:buChar char="⚬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Mod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el Comparison: Evaluate using RMSE and other metrics</a:t>
            </a:r>
          </a:p>
          <a:p>
            <a:pPr algn="l" marL="863598" indent="-287866" lvl="2">
              <a:lnSpc>
                <a:spcPts val="3399"/>
              </a:lnSpc>
              <a:buFont typeface="Arial"/>
              <a:buChar char="⚬"/>
            </a:pP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Enhancements: Integrate building footprint tasks for multi-task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lear</a:t>
            </a:r>
            <a:r>
              <a:rPr lang="en-US" sz="1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ning</a:t>
            </a:r>
          </a:p>
          <a:p>
            <a:pPr algn="l">
              <a:lnSpc>
                <a:spcPts val="33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016149" y="2552215"/>
          <a:ext cx="13846390" cy="4495800"/>
        </p:xfrm>
        <a:graphic>
          <a:graphicData uri="http://schemas.openxmlformats.org/drawingml/2006/table">
            <a:tbl>
              <a:tblPr/>
              <a:tblGrid>
                <a:gridCol w="3648590"/>
                <a:gridCol w="10197800"/>
              </a:tblGrid>
              <a:tr h="1123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42-Cities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High-resolution optical imagery (e.g., ZY-3) plus reference building heights across 42 major Chinese cities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DFC2018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IEEE Data Fusion Contest dataset (2018) containing aerial or satellite imagery, building-height ground truth, and segmentation labels in certain urban regions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62-Cities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Multimodal Sentinel-1 (SAR) and Sentinel-2 (optical) data across 62 Chinese cities, combined with building footprints/height references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A-Map Building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Vector-based building footprints and floor counts (converted to height) from a Chinese map service provider (A-Map), focusing on major urban regions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89608" y="7428362"/>
            <a:ext cx="2151847" cy="2310136"/>
          </a:xfrm>
          <a:custGeom>
            <a:avLst/>
            <a:gdLst/>
            <a:ahLst/>
            <a:cxnLst/>
            <a:rect r="r" b="b" t="t" l="l"/>
            <a:pathLst>
              <a:path h="2310136" w="2151847">
                <a:moveTo>
                  <a:pt x="0" y="0"/>
                </a:moveTo>
                <a:lnTo>
                  <a:pt x="2151847" y="0"/>
                </a:lnTo>
                <a:lnTo>
                  <a:pt x="2151847" y="2310136"/>
                </a:lnTo>
                <a:lnTo>
                  <a:pt x="0" y="2310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9607" y="7187210"/>
            <a:ext cx="2999693" cy="2792441"/>
          </a:xfrm>
          <a:custGeom>
            <a:avLst/>
            <a:gdLst/>
            <a:ahLst/>
            <a:cxnLst/>
            <a:rect r="r" b="b" t="t" l="l"/>
            <a:pathLst>
              <a:path h="2792441" w="2999693">
                <a:moveTo>
                  <a:pt x="0" y="0"/>
                </a:moveTo>
                <a:lnTo>
                  <a:pt x="2999693" y="0"/>
                </a:lnTo>
                <a:lnTo>
                  <a:pt x="2999693" y="2792441"/>
                </a:lnTo>
                <a:lnTo>
                  <a:pt x="0" y="2792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Datasets Available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0651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15073" y="1684924"/>
            <a:ext cx="5344227" cy="7573376"/>
            <a:chOff x="0" y="0"/>
            <a:chExt cx="827961" cy="11733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7961" cy="1173314"/>
            </a:xfrm>
            <a:custGeom>
              <a:avLst/>
              <a:gdLst/>
              <a:ahLst/>
              <a:cxnLst/>
              <a:rect r="r" b="b" t="t" l="l"/>
              <a:pathLst>
                <a:path h="1173314" w="827961">
                  <a:moveTo>
                    <a:pt x="33319" y="0"/>
                  </a:moveTo>
                  <a:lnTo>
                    <a:pt x="794642" y="0"/>
                  </a:lnTo>
                  <a:cubicBezTo>
                    <a:pt x="813043" y="0"/>
                    <a:pt x="827961" y="14917"/>
                    <a:pt x="827961" y="33319"/>
                  </a:cubicBezTo>
                  <a:lnTo>
                    <a:pt x="827961" y="1139995"/>
                  </a:lnTo>
                  <a:cubicBezTo>
                    <a:pt x="827961" y="1158397"/>
                    <a:pt x="813043" y="1173314"/>
                    <a:pt x="794642" y="1173314"/>
                  </a:cubicBezTo>
                  <a:lnTo>
                    <a:pt x="33319" y="1173314"/>
                  </a:lnTo>
                  <a:cubicBezTo>
                    <a:pt x="14917" y="1173314"/>
                    <a:pt x="0" y="1158397"/>
                    <a:pt x="0" y="1139995"/>
                  </a:cubicBezTo>
                  <a:lnTo>
                    <a:pt x="0" y="33319"/>
                  </a:lnTo>
                  <a:cubicBezTo>
                    <a:pt x="0" y="14917"/>
                    <a:pt x="14917" y="0"/>
                    <a:pt x="33319" y="0"/>
                  </a:cubicBezTo>
                  <a:close/>
                </a:path>
              </a:pathLst>
            </a:custGeom>
            <a:blipFill>
              <a:blip r:embed="rId2"/>
              <a:stretch>
                <a:fillRect l="-56349" t="0" r="-5634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599709"/>
            <a:ext cx="57028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Github Repos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43393"/>
            <a:ext cx="10527757" cy="323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3080"/>
              </a:lnSpc>
              <a:buAutoNum type="arabicPeriod" startAt="1"/>
            </a:pPr>
            <a:r>
              <a:rPr lang="en-US" b="true" sz="22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M3Net (Building Height Estimation)</a:t>
            </a:r>
          </a:p>
          <a:p>
            <a:pPr algn="l" marL="863608" indent="-287869" lvl="2">
              <a:lnSpc>
                <a:spcPts val="2800"/>
              </a:lnSpc>
              <a:buFont typeface="Arial"/>
              <a:buChar char="⚬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Link: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https://github.com/lauraset/BuildingHeightModel</a:t>
            </a:r>
          </a:p>
          <a:p>
            <a:pPr algn="l" marL="863608" indent="-287869" lvl="2">
              <a:lnSpc>
                <a:spcPts val="2800"/>
              </a:lnSpc>
              <a:buFont typeface="Arial"/>
              <a:buChar char="⚬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Description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: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Official code from the “M3Net” paper, demonstrating a multi-task deep learning approach (building height + footprint) using ZY-3 or Sentinel data.</a:t>
            </a:r>
          </a:p>
          <a:p>
            <a:pPr algn="l" marL="474983" indent="-237491" lvl="1">
              <a:lnSpc>
                <a:spcPts val="3080"/>
              </a:lnSpc>
              <a:buAutoNum type="arabicPeriod" startAt="1"/>
            </a:pPr>
            <a:r>
              <a:rPr lang="en-US" b="true" sz="22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monodepth2 (General Depth Estimation)</a:t>
            </a:r>
          </a:p>
          <a:p>
            <a:pPr algn="l" marL="863608" indent="-287869" lvl="2">
              <a:lnSpc>
                <a:spcPts val="2800"/>
              </a:lnSpc>
              <a:buFont typeface="Arial"/>
              <a:buChar char="⚬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Link: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https://github.com/nianticlabs/monodepth2</a:t>
            </a:r>
          </a:p>
          <a:p>
            <a:pPr algn="l" marL="863608" indent="-287869" lvl="2">
              <a:lnSpc>
                <a:spcPts val="2800"/>
              </a:lnSpc>
              <a:buFont typeface="Arial"/>
              <a:buChar char="⚬"/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Description</a:t>
            </a: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:</a:t>
            </a:r>
            <a:r>
              <a:rPr lang="en-US" sz="2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Though not specific to buildings, it provides state-of-the-art monocular depth estimation code that can be adapted for urban 3D tasks.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DAGi7sNvVG0</dc:identifier>
  <dcterms:modified xsi:type="dcterms:W3CDTF">2011-08-01T06:04:30Z</dcterms:modified>
  <cp:revision>1</cp:revision>
  <dc:title>Group31_Presentation</dc:title>
</cp:coreProperties>
</file>